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5400" b="1">
                <a:solidFill>
                  <a:srgbClr val="F5F5FA"/>
                </a:solidFill>
                <a:latin typeface="Segoe UI"/>
              </a:defRPr>
            </a:pPr>
            <a:r>
              <a:t>AgentOps Nexus</a:t>
            </a:r>
          </a:p>
          <a:p>
            <a:pPr>
              <a:spcAft>
                <a:spcPts val="24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AI COO FOR ENTERPRISE AGENT ECOSYSTEMS</a:t>
            </a:r>
          </a:p>
          <a:p>
            <a:pPr>
              <a:defRPr sz="1800">
                <a:solidFill>
                  <a:srgbClr val="A0A0AA"/>
                </a:solidFill>
                <a:latin typeface="Segoe UI"/>
              </a:defRPr>
            </a:pPr>
            <a:r>
              <a:t>One intelligent AI Supervisor to govern, monitor, evaluate, and optimize every agent running inside your organization.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A"/>
                </a:solidFill>
                <a:latin typeface="Segoe UI"/>
              </a:defRPr>
            </a:pPr>
            <a:r>
              <a:t>The Wild West of 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C4899"/>
                </a:solidFill>
                <a:latin typeface="Segoe UI"/>
              </a:defRPr>
            </a:pPr>
            <a:r>
              <a:t>The Problem</a:t>
            </a:r>
          </a:p>
          <a:p>
            <a:pPr>
              <a:lnSpc>
                <a:spcPct val="130000"/>
              </a:lnSpc>
              <a:defRPr sz="1600">
                <a:solidFill>
                  <a:srgbClr val="A0A0AA"/>
                </a:solidFill>
                <a:latin typeface="Segoe UI"/>
              </a:defRPr>
            </a:pPr>
            <a:r>
              <a:t>Organizations are deploying hundreds of autonomous agents without central oversight, leading to cost spirals, hidden hallucination failures, security jailbreaks, and compliance exposure.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•  Invisible Failures: </a:t>
            </a:r>
            <a:r>
              <a:rPr sz="1400" b="0">
                <a:solidFill>
                  <a:srgbClr val="A0A0AA"/>
                </a:solidFill>
                <a:latin typeface="Segoe UI"/>
              </a:rPr>
              <a:t>Agents fail silently, returning inaccurate or hallucinated answers directly to clients.</a:t>
            </a:r>
          </a:p>
          <a:p>
            <a:pPr>
              <a:spcAft>
                <a:spcPts val="16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•  Token Cost Inflation: </a:t>
            </a:r>
            <a:r>
              <a:rPr sz="1400" b="0">
                <a:solidFill>
                  <a:srgbClr val="A0A0AA"/>
                </a:solidFill>
                <a:latin typeface="Segoe UI"/>
              </a:rPr>
              <a:t>Inefficient prompts and excessive model routing waste thousands of dollars daily.</a:t>
            </a:r>
          </a:p>
          <a:p>
            <a:pPr>
              <a:spcAft>
                <a:spcPts val="16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•  Compliance Hazards: </a:t>
            </a:r>
            <a:r>
              <a:rPr sz="1400" b="0">
                <a:solidFill>
                  <a:srgbClr val="A0A0AA"/>
                </a:solidFill>
                <a:latin typeface="Segoe UI"/>
              </a:rPr>
              <a:t>Personally Identifiable Information (PII) leaks out into public LLM providers unchecked.</a:t>
            </a:r>
          </a:p>
          <a:p>
            <a:pPr>
              <a:spcAft>
                <a:spcPts val="16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•  Operational Blindspots: </a:t>
            </a:r>
            <a:r>
              <a:rPr sz="1400" b="0">
                <a:solidFill>
                  <a:srgbClr val="A0A0AA"/>
                </a:solidFill>
                <a:latin typeface="Segoe UI"/>
              </a:rPr>
              <a:t>Traditional monitoring systems capture generic API logs but lack semantic context or auto-recovery options.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A"/>
                </a:solidFill>
                <a:latin typeface="Segoe UI"/>
              </a:defRPr>
            </a:pPr>
            <a:r>
              <a:t>The Closed-Loop Governance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377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01 / DETECT</a:t>
            </a:r>
          </a:p>
          <a:p>
            <a:pPr>
              <a:spcAft>
                <a:spcPts val="1200"/>
              </a:spcAft>
              <a:defRPr sz="1800" b="1">
                <a:solidFill>
                  <a:srgbClr val="F5F5FA"/>
                </a:solidFill>
                <a:latin typeface="Segoe UI"/>
              </a:defRPr>
            </a:pPr>
            <a:r>
              <a:t>Agent Failure Event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Celery listener captures exception traces and model execution logs in real-time.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2011680"/>
            <a:ext cx="2377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02 / RETRIEVE</a:t>
            </a:r>
          </a:p>
          <a:p>
            <a:pPr>
              <a:spcAft>
                <a:spcPts val="1200"/>
              </a:spcAft>
              <a:defRPr sz="1800" b="1">
                <a:solidFill>
                  <a:srgbClr val="F5F5FA"/>
                </a:solidFill>
                <a:latin typeface="Segoe UI"/>
              </a:defRPr>
            </a:pPr>
            <a:r>
              <a:t>Memory Search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Qdrant retrieves past similar incidents to check how they were previously mitigated.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2377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03 / EVALUATE</a:t>
            </a:r>
          </a:p>
          <a:p>
            <a:pPr>
              <a:spcAft>
                <a:spcPts val="1200"/>
              </a:spcAft>
              <a:defRPr sz="1800" b="1">
                <a:solidFill>
                  <a:srgbClr val="F5F5FA"/>
                </a:solidFill>
                <a:latin typeface="Segoe UI"/>
              </a:defRPr>
            </a:pPr>
            <a:r>
              <a:t>Safety &amp; Costs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Enkrypt AI evaluates safety risk levels while Cost Agent estimates budget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2011680"/>
            <a:ext cx="2377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04 / EXECUTE</a:t>
            </a:r>
          </a:p>
          <a:p>
            <a:pPr>
              <a:spcAft>
                <a:spcPts val="1200"/>
              </a:spcAft>
              <a:defRPr sz="1800" b="1">
                <a:solidFill>
                  <a:srgbClr val="F5F5FA"/>
                </a:solidFill>
                <a:latin typeface="Segoe UI"/>
              </a:defRPr>
            </a:pPr>
            <a:r>
              <a:t>Auto-Optimize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Optimization Agent refactors the prompt, changes routing, and deploys with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A"/>
                </a:solidFill>
                <a:latin typeface="Segoe UI"/>
              </a:defRPr>
            </a:pPr>
            <a:r>
              <a:t>The Specialized Governance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5F5FA"/>
                </a:solidFill>
                <a:latin typeface="Segoe UI"/>
              </a:defRPr>
            </a:pPr>
            <a:r>
              <a:t>Supervisor Agent</a:t>
            </a:r>
          </a:p>
          <a:p>
            <a:pPr>
              <a:spcAft>
                <a:spcPts val="1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Orchestration &amp; Coordination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Acts as the central Chief Operating Officer. Coordinates all other agents, schedules health diagnostics, evaluates incident severities, and issues resolution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5F5FA"/>
                </a:solidFill>
                <a:latin typeface="Segoe UI"/>
              </a:defRPr>
            </a:pPr>
            <a:r>
              <a:t>Safety &amp; Shield Agent</a:t>
            </a:r>
          </a:p>
          <a:p>
            <a:pPr>
              <a:spcAft>
                <a:spcPts val="1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Risk Mitigation &amp; Blocking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Integrates directly with Enkrypt AI to screen prompt inputs and model outputs. Autonomously blocks jailbreaks, redacts PII data, and scores hallucination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5F5FA"/>
                </a:solidFill>
                <a:latin typeface="Segoe UI"/>
              </a:defRPr>
            </a:pPr>
            <a:r>
              <a:t>Cost &amp; Quality Agents</a:t>
            </a:r>
          </a:p>
          <a:p>
            <a:pPr>
              <a:spcAft>
                <a:spcPts val="1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Budget &amp; Output Optimizers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Monitors token costs against caps. Recommends model downgrades when response quality scores (accuracy, relevance, coherence) remain high.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A"/>
                </a:solidFill>
                <a:latin typeface="Segoe UI"/>
              </a:defRPr>
            </a:pPr>
            <a:r>
              <a:t>Award-Winning Control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Segoe UI"/>
              </a:defRPr>
            </a:pPr>
            <a:r>
              <a:t>Apple + Linear Aesthetics</a:t>
            </a:r>
          </a:p>
          <a:p>
            <a:pPr>
              <a:lnSpc>
                <a:spcPct val="130000"/>
              </a:lnSpc>
              <a:spcAft>
                <a:spcPts val="1600"/>
              </a:spcAft>
              <a:defRPr sz="1600">
                <a:solidFill>
                  <a:srgbClr val="A0A0AA"/>
                </a:solidFill>
                <a:latin typeface="Segoe UI"/>
              </a:defRPr>
            </a:pPr>
            <a:r>
              <a:t>The control center UI is built from scratch utilizing React 19, Next.js, Tailwind CSS, and Framer Motion for responsive layouts and animations.</a:t>
            </a:r>
          </a:p>
          <a:p>
            <a:pPr>
              <a:lnSpc>
                <a:spcPct val="130000"/>
              </a:lnSpc>
              <a:defRPr sz="1500">
                <a:solidFill>
                  <a:srgbClr val="A0A0AA"/>
                </a:solidFill>
                <a:latin typeface="Segoe UI"/>
              </a:defRPr>
            </a:pPr>
            <a:r>
              <a:t>Features high-density dashboard layouts, clean status tags, drag-and-drop workflow canvases, and custom charts for cost and quality forecasting.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✔  Control Center Overview &amp; Stats Grid</a:t>
            </a:r>
          </a:p>
          <a:p>
            <a:pPr>
              <a:spcAft>
                <a:spcPts val="12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✔  Agent Monitor &amp; Power Toggles</a:t>
            </a:r>
          </a:p>
          <a:p>
            <a:pPr>
              <a:spcAft>
                <a:spcPts val="12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✔  Enkrypt Safety Shield Logs</a:t>
            </a:r>
          </a:p>
          <a:p>
            <a:pPr>
              <a:spcAft>
                <a:spcPts val="12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✔  Cost Analyzer &amp; Budget Caps</a:t>
            </a:r>
          </a:p>
          <a:p>
            <a:pPr>
              <a:spcAft>
                <a:spcPts val="12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✔  Workflow Builder Canvas</a:t>
            </a:r>
          </a:p>
          <a:p>
            <a:pPr>
              <a:spcAft>
                <a:spcPts val="1200"/>
              </a:spcAft>
              <a:defRPr sz="1500" b="1">
                <a:solidFill>
                  <a:srgbClr val="F5F5FA"/>
                </a:solidFill>
                <a:latin typeface="Segoe UI"/>
              </a:defRPr>
            </a:pPr>
            <a:r>
              <a:t>✔  Qdrant Memory Collection Explorer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A"/>
                </a:solidFill>
                <a:latin typeface="Segoe UI"/>
              </a:defRPr>
            </a:pPr>
            <a:r>
              <a:t>Memory Layer &amp; 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Relational Integrity + Vector Recall</a:t>
            </a:r>
          </a:p>
          <a:p>
            <a:pPr>
              <a:lnSpc>
                <a:spcPct val="130000"/>
              </a:lnSpc>
              <a:defRPr sz="1500">
                <a:solidFill>
                  <a:srgbClr val="A0A0AA"/>
                </a:solidFill>
                <a:latin typeface="Segoe UI"/>
              </a:defRPr>
            </a:pPr>
            <a:r>
              <a:t>Nexus couples standard relational models (PostgreSQL) with vector-based semantic lookup (Qdrant) to support structured operational tasks alongside deep cognitive context retrieval.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F5FA"/>
                </a:solidFill>
                <a:latin typeface="Segoe UI"/>
              </a:defRPr>
            </a:pPr>
            <a:r>
              <a:t>PostgreSQL Structure (SQLAlchemy)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400">
                <a:solidFill>
                  <a:srgbClr val="A0A0AA"/>
                </a:solidFill>
                <a:latin typeface="Segoe UI"/>
              </a:defRPr>
            </a:pPr>
            <a:r>
              <a:t>Tracks organizations, users, MFA secrets, API keys, agent profiles, execution runs, safety logs, and recommendations.</a:t>
            </a:r>
          </a:p>
          <a:p>
            <a:pPr>
              <a:spcAft>
                <a:spcPts val="400"/>
              </a:spcAft>
              <a:defRPr sz="1600" b="1">
                <a:solidFill>
                  <a:srgbClr val="F5F5FA"/>
                </a:solidFill>
                <a:latin typeface="Segoe UI"/>
              </a:defRPr>
            </a:pPr>
            <a:r>
              <a:t>Qdrant Collections (Vector DB)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Leverages text-embedding-3-large embeddings. Populates incident history memory, prompt template version indices, and RAG document chunks.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A"/>
                </a:solidFill>
                <a:latin typeface="Segoe UI"/>
              </a:defRPr>
            </a:pPr>
            <a:r>
              <a:t>The Modern Enterprise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377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C4899"/>
                </a:solidFill>
                <a:latin typeface="Segoe UI"/>
              </a:defRPr>
            </a:pPr>
            <a:r>
              <a:t>FRONTEND</a:t>
            </a:r>
          </a:p>
          <a:p>
            <a:pPr>
              <a:spcAft>
                <a:spcPts val="1200"/>
              </a:spcAft>
              <a:defRPr sz="1800" b="1">
                <a:solidFill>
                  <a:srgbClr val="F5F5FA"/>
                </a:solidFill>
                <a:latin typeface="Segoe UI"/>
              </a:defRPr>
            </a:pPr>
            <a:r>
              <a:t>Next.js 14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React 19, TypeScript, Tailwind CSS, Recharts, Zustand, Framer Motion, and TanStack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2011680"/>
            <a:ext cx="2377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C4899"/>
                </a:solidFill>
                <a:latin typeface="Segoe UI"/>
              </a:defRPr>
            </a:pPr>
            <a:r>
              <a:t>BACKEND</a:t>
            </a:r>
          </a:p>
          <a:p>
            <a:pPr>
              <a:spcAft>
                <a:spcPts val="1200"/>
              </a:spcAft>
              <a:defRPr sz="1800" b="1">
                <a:solidFill>
                  <a:srgbClr val="F5F5FA"/>
                </a:solidFill>
                <a:latin typeface="Segoe UI"/>
              </a:defRPr>
            </a:pPr>
            <a:r>
              <a:t>FastAPI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Python 3.12, SQLAlchemy, Alembic Migrations, Celery Tasks, Redis Cache, and Pyotp MFA.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2377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C4899"/>
                </a:solidFill>
                <a:latin typeface="Segoe UI"/>
              </a:defRPr>
            </a:pPr>
            <a:r>
              <a:t>AI LAYER</a:t>
            </a:r>
          </a:p>
          <a:p>
            <a:pPr>
              <a:spcAft>
                <a:spcPts val="1200"/>
              </a:spcAft>
              <a:defRPr sz="1800" b="1">
                <a:solidFill>
                  <a:srgbClr val="F5F5FA"/>
                </a:solidFill>
                <a:latin typeface="Segoe UI"/>
              </a:defRPr>
            </a:pPr>
            <a:r>
              <a:t>Multi-LLM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OpenAI, Claude, Gemini, LiteLLM, Qdrant Client, and Enkrypt AI Safety SDK.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2011680"/>
            <a:ext cx="2377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C4899"/>
                </a:solidFill>
                <a:latin typeface="Segoe UI"/>
              </a:defRPr>
            </a:pPr>
            <a:r>
              <a:t>OBSERVABILITY</a:t>
            </a:r>
          </a:p>
          <a:p>
            <a:pPr>
              <a:spcAft>
                <a:spcPts val="1200"/>
              </a:spcAft>
              <a:defRPr sz="1800" b="1">
                <a:solidFill>
                  <a:srgbClr val="F5F5FA"/>
                </a:solidFill>
                <a:latin typeface="Segoe UI"/>
              </a:defRPr>
            </a:pPr>
            <a:r>
              <a:t>Metrics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Prometheus Client, Grafana Dashboard templates, OpenTelemetry tracers, and structlog.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A"/>
                </a:solidFill>
                <a:latin typeface="Segoe UI"/>
              </a:defRPr>
            </a:pPr>
            <a:r>
              <a:t>Deployment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Segoe UI"/>
              </a:defRPr>
            </a:pPr>
            <a:r>
              <a:t>Enterprise-Ready Orchestration</a:t>
            </a:r>
          </a:p>
          <a:p>
            <a:pPr>
              <a:lnSpc>
                <a:spcPct val="130000"/>
              </a:lnSpc>
              <a:defRPr sz="1600">
                <a:solidFill>
                  <a:srgbClr val="A0A0AA"/>
                </a:solidFill>
                <a:latin typeface="Segoe UI"/>
              </a:defRPr>
            </a:pPr>
            <a:r>
              <a:t>Nexus is packaged to deploy seamlessly into standard cloud setups using Infrastructure as Code (IaC) templates.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F5FA"/>
                </a:solidFill>
                <a:latin typeface="Segoe UI"/>
              </a:defRPr>
            </a:pPr>
            <a:r>
              <a:t>Docker Compose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400">
                <a:solidFill>
                  <a:srgbClr val="A0A0AA"/>
                </a:solidFill>
                <a:latin typeface="Segoe UI"/>
              </a:defRPr>
            </a:pPr>
            <a:r>
              <a:t>Spin up the full multi-service development environment in one command for fast testing and onboarding.</a:t>
            </a:r>
          </a:p>
          <a:p>
            <a:pPr>
              <a:spcAft>
                <a:spcPts val="400"/>
              </a:spcAft>
              <a:defRPr sz="1600" b="1">
                <a:solidFill>
                  <a:srgbClr val="F5F5FA"/>
                </a:solidFill>
                <a:latin typeface="Segoe UI"/>
              </a:defRPr>
            </a:pPr>
            <a:r>
              <a:t>Kubernetes &amp; CI/CD</a:t>
            </a:r>
          </a:p>
          <a:p>
            <a:pPr>
              <a:lnSpc>
                <a:spcPct val="130000"/>
              </a:lnSpc>
              <a:defRPr sz="1400">
                <a:solidFill>
                  <a:srgbClr val="A0A0AA"/>
                </a:solidFill>
                <a:latin typeface="Segoe UI"/>
              </a:defRPr>
            </a:pPr>
            <a:r>
              <a:t>Production deployments using Kubernetes manifests, resource limits, and auto-scaling rules. Pipeline automated with GitHub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5F5FA"/>
                </a:solidFill>
                <a:latin typeface="Segoe UI"/>
              </a:defRPr>
            </a:pPr>
            <a:r>
              <a:t>AgentOps Nexus</a:t>
            </a:r>
          </a:p>
          <a:p>
            <a:pPr>
              <a:spcAft>
                <a:spcPts val="2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THE FUTURE OF ENTERPRISE AI GOVERNANCE</a:t>
            </a:r>
          </a:p>
          <a:p>
            <a:pPr>
              <a:lnSpc>
                <a:spcPct val="140000"/>
              </a:lnSpc>
              <a:defRPr sz="1800">
                <a:solidFill>
                  <a:srgbClr val="A0A0AA"/>
                </a:solidFill>
                <a:latin typeface="Segoe UI"/>
              </a:defRPr>
            </a:pPr>
            <a:r>
              <a:t>• Production-ready async microservice architecture.</a:t>
            </a:r>
            <a:br/>
            <a:r>
              <a:t>• Comprehensive vector and relational data layers.</a:t>
            </a:r>
            <a:br/>
            <a:r>
              <a:t>• Deep security protections with real-time Enkrypt AI gates.</a:t>
            </a:r>
            <a:br/>
            <a:r>
              <a:t>• Stunning custom React &amp; Next.js dashboard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